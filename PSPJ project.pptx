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61" r:id="rId5"/>
    <p:sldId id="258" r:id="rId6"/>
    <p:sldId id="259" r:id="rId7"/>
    <p:sldId id="260" r:id="rId8"/>
    <p:sldId id="263" r:id="rId9"/>
    <p:sldId id="264" r:id="rId10"/>
    <p:sldId id="265" r:id="rId11"/>
    <p:sldId id="266" r:id="rId12"/>
    <p:sldId id="267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/>
              <a:t>Student Record System in Java</a:t>
            </a:r>
            <a:br>
              <a:rPr lang="en-IN" dirty="0"/>
            </a:br>
            <a:r>
              <a:rPr lang="en-IN" b="1" dirty="0"/>
              <a:t>Team No</a:t>
            </a:r>
            <a:endParaRPr lang="en-IN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IN" dirty="0"/>
              <a:t>Sujeet Nellutla</a:t>
            </a:r>
            <a:r>
              <a:rPr lang="en-IN" dirty="0"/>
              <a:t> 	</a:t>
            </a:r>
            <a:r>
              <a:rPr lang="en-US" altLang="en-IN" dirty="0"/>
              <a:t>2620090014</a:t>
            </a:r>
            <a:endParaRPr lang="en-IN" dirty="0"/>
          </a:p>
          <a:p>
            <a:r>
              <a:rPr lang="en-US" altLang="en-IN" dirty="0"/>
              <a:t>Bhanu Singh </a:t>
            </a:r>
            <a:r>
              <a:rPr lang="en-IN" dirty="0"/>
              <a:t> 	</a:t>
            </a:r>
            <a:r>
              <a:rPr lang="en-US" altLang="en-IN" dirty="0"/>
              <a:t>2620030707</a:t>
            </a:r>
            <a:endParaRPr lang="en-IN" dirty="0"/>
          </a:p>
          <a:p>
            <a:r>
              <a:rPr lang="en-US" altLang="en-IN" dirty="0"/>
              <a:t>Hemanth Movva </a:t>
            </a:r>
            <a:r>
              <a:rPr lang="en-IN" dirty="0"/>
              <a:t> 	</a:t>
            </a:r>
            <a:r>
              <a:rPr lang="en-US" altLang="en-IN" dirty="0"/>
              <a:t>2620040109</a:t>
            </a:r>
            <a:endParaRPr lang="en-IN" dirty="0"/>
          </a:p>
          <a:p>
            <a:endParaRPr lang="en-IN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7D318-FBF5-482E-BB10-69D54EA53D7B}" type="datetime1">
              <a:rPr lang="en-IN" smtClean="0"/>
            </a:fld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13" name="Rounded Rectangle 12"/>
          <p:cNvSpPr/>
          <p:nvPr/>
        </p:nvSpPr>
        <p:spPr>
          <a:xfrm>
            <a:off x="3017520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041648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65776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089904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114032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38160" y="4983480"/>
            <a:ext cx="896112" cy="411480"/>
          </a:xfrm>
          <a:prstGeom prst="roundRect">
            <a:avLst>
              <a:gd name="adj" fmla="val 50000"/>
            </a:avLst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CO6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9530" y="233680"/>
            <a:ext cx="7772400" cy="4665345"/>
          </a:xfrm>
        </p:spPr>
        <p:txBody>
          <a:bodyPr anchor="ctr">
            <a:normAutofit/>
          </a:bodyPr>
          <a:lstStyle/>
          <a:p>
            <a:pPr>
              <a:lnSpc>
                <a:spcPct val="160000"/>
              </a:lnSpc>
            </a:pPr>
            <a:r>
              <a:rPr lang="en-US" altLang="en-GB" sz="3200" b="1" dirty="0">
                <a:solidFill>
                  <a:srgbClr val="1F2937"/>
                </a:solidFill>
              </a:rPr>
              <a:t>ABSTRACT</a:t>
            </a:r>
            <a:br>
              <a:rPr lang="en-US" altLang="en-GB" sz="1335" b="1" dirty="0">
                <a:solidFill>
                  <a:srgbClr val="1F2937"/>
                </a:solidFill>
              </a:rPr>
            </a:br>
            <a:br>
              <a:rPr lang="en-US" altLang="en-GB" sz="1335" b="1" dirty="0">
                <a:solidFill>
                  <a:srgbClr val="1F2937"/>
                </a:solidFill>
              </a:rPr>
            </a:br>
            <a:r>
              <a:rPr lang="en-US" altLang="en-GB" sz="1335" b="1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Student Record System is a console-based Java application that replaces manual mark tracking by letting users add, update, search, rank and report on student records. It uses core Java concepts like OOP, exception handling, file I/O, collections and streams to stay reliable and keep data saved across restarts.</a:t>
            </a:r>
            <a:br>
              <a:rPr lang="en-US" altLang="en-GB" sz="1335" b="1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altLang="en-GB" sz="1335" b="1" dirty="0">
                <a:solidFill>
                  <a:srgbClr val="1F2937"/>
                </a:solidFill>
              </a:rPr>
            </a:br>
            <a:br>
              <a:rPr lang="en-IN" sz="1335" b="1" dirty="0">
                <a:solidFill>
                  <a:srgbClr val="1F2937"/>
                </a:solidFill>
              </a:rPr>
            </a:br>
            <a:endParaRPr lang="en-IN" sz="1335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819AD-E7C0-4450-A29A-C3AB3AFFF6BF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Understanding the Problem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A9410-9F72-4C75-ADBD-63106BC7C7D6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D9442E"/>
                </a:solidFill>
              </a:rPr>
              <a:t>The problem</a:t>
            </a:r>
            <a:endParaRPr sz="1800" b="1">
              <a:solidFill>
                <a:srgbClr val="D9442E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Institutes still track marks in registers or scattered spreadsheets.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D94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D9442E"/>
                </a:solidFill>
              </a:rPr>
              <a:t>Pain points</a:t>
            </a:r>
            <a:endParaRPr sz="1800" b="1">
              <a:solidFill>
                <a:srgbClr val="D9442E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Slow lookups, duplicate entries, calculation errors and lost data.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D94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D9442E"/>
                </a:solidFill>
              </a:rPr>
              <a:t>The need</a:t>
            </a:r>
            <a:endParaRPr sz="1800" b="1">
              <a:solidFill>
                <a:srgbClr val="D9442E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 simple tool to add, update, search, rank and report on students.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D94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D9442E"/>
                </a:solidFill>
              </a:rPr>
              <a:t>Constraints</a:t>
            </a:r>
            <a:endParaRPr sz="1800" b="1">
              <a:solidFill>
                <a:srgbClr val="D9442E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Console only, core Java only, and it must not crash on bad input.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D94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10515600" cy="1246632"/>
          </a:xfrm>
          <a:prstGeom prst="roundRect">
            <a:avLst>
              <a:gd name="adj" fmla="val 14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D9442E"/>
                </a:solidFill>
              </a:rPr>
              <a:t>Our goal</a:t>
            </a:r>
            <a:endParaRPr sz="1800" b="1">
              <a:solidFill>
                <a:srgbClr val="D9442E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Turn the manual process into a precise algorithm and a working program.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D94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CO1 · From problem to program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7212C-F907-4AC4-966E-162B34E8EFA5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2F5BEA"/>
                </a:solidFill>
              </a:rPr>
              <a:t>Problem to algorithm</a:t>
            </a:r>
            <a:endParaRPr sz="1800" b="1">
              <a:solidFill>
                <a:srgbClr val="2F5BEA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Requirements to inputs, processing, outputs, then pseudocode and flowchart.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2F5BEA"/>
                </a:solidFill>
              </a:rPr>
              <a:t>Primitive types</a:t>
            </a:r>
            <a:endParaRPr sz="1800" b="1">
              <a:solidFill>
                <a:srgbClr val="2F5BEA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int for roll no, double for marks, char for grade, boolean for pass/fail.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2F5BEA"/>
                </a:solidFill>
              </a:rPr>
              <a:t>Expressions</a:t>
            </a:r>
            <a:endParaRPr sz="1800" b="1">
              <a:solidFill>
                <a:srgbClr val="2F5BEA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Total, percentage and grade from arithmetic and relational operators.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2F5BEA"/>
                </a:solidFill>
              </a:rPr>
              <a:t>Console I/O</a:t>
            </a:r>
            <a:endParaRPr sz="1800" b="1">
              <a:solidFill>
                <a:srgbClr val="2F5BEA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Scanner for input, System.out.printf for formatted output.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10515600" cy="1246632"/>
          </a:xfrm>
          <a:prstGeom prst="roundRect">
            <a:avLst>
              <a:gd name="adj" fmla="val 14000"/>
            </a:avLst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2F5BEA"/>
                </a:solidFill>
              </a:rPr>
              <a:t>Sample</a:t>
            </a:r>
            <a:endParaRPr sz="1800" b="1">
              <a:solidFill>
                <a:srgbClr val="2F5BEA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average = (m1 + m2 + m3) / 3.0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CO1 · BTL3 · APPLY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CO2 · Control flow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A43E7-AB4E-4C38-9410-6577E2291C02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Selection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if / else-if for grade bands, switch for the main menu.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Iteration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for to print records, while for the menu, do-while to re-ask on bad input.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Choosing the construct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for when the count is known, while / do-while when the user decides.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Termination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Every loop has an exit: Exit option, valid input, or last array index.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10515600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break and continue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Leave a loop early or skip an invalid record.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CO2 · BTL4 · ANALYZE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CO3 · Methods, recursion &amp; arrays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F71FF-0CE0-4D83-9933-F69CED863D80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Methods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addStudent(), calcGrade(), findByRoll(), printReport(): one job each.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Parameters &amp; returns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Pass marks in, get the grade back, reuse the logic.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Recursion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Sum marks or binary search by halving the range.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1-D arrays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Roll numbers and totals; traversal, max/min, linear search.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10515600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2-D arrays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Marks matrix [students][subjects] with row totals and column averages.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CO3 · BTL4 · ANALYZE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CO4 · Objects that fail safely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Classes &amp; objects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Student(rollNo, name, marks) and Course model the domain.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Encapsulation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Private fields, getters and setters; marks validated 0 to 100.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Relationships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 Course has many Students, kept in an ArrayList.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try / catch / finally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Guard input and file access.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Custom exception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InvalidMarksException, plus InputMismatch and ArrayIndexOutOfBounds.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81344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Fail safely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Clear message to the user and the program keeps running.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6336792" y="4835652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CO4 · BTL6 · CREATE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CO5 · Strings, algorithms &amp; files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String methods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trim, toUpperCase, equalsIgnoreCase, substring, split.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StringBuilder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Builds report lines without repeated + concatenation.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Library sort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Arrays.sort() and Collections.sort() rank students by marks.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Search &amp; compare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Arrays.binarySearch(), Comparable and Comparator.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File I/O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BufferedReader and FileWriter save and load students.txt.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81344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B87503"/>
                </a:solidFill>
              </a:rPr>
              <a:t>Persistence</a:t>
            </a:r>
            <a:endParaRPr sz="1800" b="1">
              <a:solidFill>
                <a:srgbClr val="B87503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Data survives restarts.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6336792" y="4835652"/>
            <a:ext cx="512064" cy="512064"/>
          </a:xfrm>
          <a:prstGeom prst="ellipse">
            <a:avLst/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B875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CO5 · BTL4 · ANALYZE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CO6 · Collections &amp; Streams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Collections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ArrayList for records, HashMap&lt;Integer, Student&gt; for fast lookup.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Lambdas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(a, b) -&gt; b.getMarks() - a.getMarks()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Functional interfaces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Predicate, Function, Consumer and @FunctionalInterface.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Stream pipelines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filter, map, sorted, collect.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Example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students.stream().filter(s -&gt; s.getMarks() &gt;= 40).count()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81344" y="4468368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0B8266"/>
                </a:solidFill>
              </a:rPr>
              <a:t>Declarative reports</a:t>
            </a:r>
            <a:endParaRPr sz="1800" b="1">
              <a:solidFill>
                <a:srgbClr val="0B8266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Topper, class average, pass percentage, grade-wise groups.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6336792" y="4835652"/>
            <a:ext cx="512064" cy="512064"/>
          </a:xfrm>
          <a:prstGeom prst="ellipse">
            <a:avLst/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705088" y="713232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0B82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CO6 · BTL6 · CREATE</a:t>
            </a:r>
            <a:endParaRPr sz="1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Conclusion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6F42D8"/>
                </a:solidFill>
              </a:rPr>
              <a:t>Outcomes met</a:t>
            </a:r>
            <a:endParaRPr sz="1800" b="1">
              <a:solidFill>
                <a:srgbClr val="6F42D8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Algorithm, control flow, methods and arrays, OOP, strings and files, collections and streams.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96696" y="2013203"/>
            <a:ext cx="512064" cy="512064"/>
          </a:xfrm>
          <a:prstGeom prst="ellipse">
            <a:avLst/>
          </a:prstGeom>
          <a:solidFill>
            <a:srgbClr val="6F4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6F42D8"/>
                </a:solidFill>
              </a:rPr>
              <a:t>Solid system</a:t>
            </a:r>
            <a:endParaRPr sz="1800" b="1">
              <a:solidFill>
                <a:srgbClr val="6F42D8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Modular, validates input and saves data to a file.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6336792" y="2013203"/>
            <a:ext cx="512064" cy="512064"/>
          </a:xfrm>
          <a:prstGeom prst="ellipse">
            <a:avLst/>
          </a:prstGeom>
          <a:solidFill>
            <a:srgbClr val="6F4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8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6F42D8"/>
                </a:solidFill>
              </a:rPr>
              <a:t>Future work</a:t>
            </a:r>
            <a:endParaRPr sz="1800" b="1">
              <a:solidFill>
                <a:srgbClr val="6F42D8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GUI or web front-end, JDBC database, login roles, charts, PDF reports.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996696" y="3424428"/>
            <a:ext cx="512064" cy="512064"/>
          </a:xfrm>
          <a:prstGeom prst="ellipse">
            <a:avLst/>
          </a:prstGeom>
          <a:solidFill>
            <a:srgbClr val="6F4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81344" y="3057144"/>
            <a:ext cx="5175504" cy="1246632"/>
          </a:xfrm>
          <a:prstGeom prst="roundRect">
            <a:avLst>
              <a:gd name="adj" fmla="val 14000"/>
            </a:avLst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6F42D8"/>
                </a:solidFill>
              </a:rPr>
              <a:t>Key learning</a:t>
            </a:r>
            <a:endParaRPr sz="1800" b="1">
              <a:solidFill>
                <a:srgbClr val="6F42D8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Good design matters as much as syntax.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6336792" y="3424428"/>
            <a:ext cx="512064" cy="512064"/>
          </a:xfrm>
          <a:prstGeom prst="ellipse">
            <a:avLst/>
          </a:prstGeom>
          <a:solidFill>
            <a:srgbClr val="6F4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41248" y="4468368"/>
            <a:ext cx="10515600" cy="1246632"/>
          </a:xfrm>
          <a:prstGeom prst="roundRect">
            <a:avLst>
              <a:gd name="adj" fmla="val 14000"/>
            </a:avLst>
          </a:prstGeom>
          <a:solidFill>
            <a:srgbClr val="EF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rIns="137160" rtlCol="0" anchor="ctr"/>
          <a:lstStyle/>
          <a:p>
            <a:pPr algn="l"/>
            <a:r>
              <a:rPr sz="1800" b="1">
                <a:solidFill>
                  <a:srgbClr val="6F42D8"/>
                </a:solidFill>
              </a:rPr>
              <a:t>Thank you!</a:t>
            </a:r>
            <a:endParaRPr sz="1800" b="1">
              <a:solidFill>
                <a:srgbClr val="6F42D8"/>
              </a:solidFill>
            </a:endParaRPr>
          </a:p>
          <a:p>
            <a:pPr algn="l"/>
            <a:r>
              <a:rPr sz="1500" b="0">
                <a:solidFill>
                  <a:srgbClr val="1F2937"/>
                </a:solidFill>
              </a:rPr>
              <a:t>Questions?</a:t>
            </a:r>
            <a:endParaRPr sz="1500" b="0">
              <a:solidFill>
                <a:srgbClr val="1F2937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996696" y="4835652"/>
            <a:ext cx="512064" cy="512064"/>
          </a:xfrm>
          <a:prstGeom prst="ellipse">
            <a:avLst/>
          </a:prstGeom>
          <a:solidFill>
            <a:srgbClr val="6F4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  <a:endParaRPr sz="18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EA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>
                <a:solidFill>
                  <a:srgbClr val="1F2937"/>
                </a:solidFill>
              </a:rPr>
              <a:t>Screen Shots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7395" y="1508760"/>
            <a:ext cx="4732655" cy="38938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-640080" y="5852160"/>
            <a:ext cx="1463040" cy="146304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1097280" cy="109728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822960"/>
            <a:ext cx="2377440" cy="2377440"/>
          </a:xfrm>
          <a:prstGeom prst="ellipse">
            <a:avLst/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7772400" cy="777240"/>
          </a:xfrm>
        </p:spPr>
        <p:txBody>
          <a:bodyPr anchor="ctr"/>
          <a:lstStyle/>
          <a:p>
            <a:r>
              <a:rPr lang="en-IN" sz="3200" b="1" dirty="0">
                <a:solidFill>
                  <a:srgbClr val="1F2937"/>
                </a:solidFill>
              </a:rPr>
              <a:t>Geo Tag Photo and GitHub Link</a:t>
            </a:r>
            <a:endParaRPr lang="en-IN" sz="3200" b="1" dirty="0">
              <a:solidFill>
                <a:srgbClr val="1F2937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14C08-598A-44BF-A4B1-00F35979A9B0}" type="datetime1">
              <a:rPr lang="en-IN" smtClean="0"/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</a:fld>
            <a:endParaRPr lang="en-IN"/>
          </a:p>
        </p:txBody>
      </p:sp>
      <p:sp>
        <p:nvSpPr>
          <p:cNvPr id="9" name="Rounded Rectangle 8"/>
          <p:cNvSpPr/>
          <p:nvPr/>
        </p:nvSpPr>
        <p:spPr>
          <a:xfrm>
            <a:off x="841248" y="1645920"/>
            <a:ext cx="5120640" cy="393192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25400">
            <a:solidFill>
              <a:srgbClr val="D9442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800" b="1">
                <a:solidFill>
                  <a:srgbClr val="D9442E"/>
                </a:solidFill>
              </a:rPr>
              <a:t>Insert geo-tagged team photo</a:t>
            </a:r>
            <a:endParaRPr sz="1800" b="1">
              <a:solidFill>
                <a:srgbClr val="D9442E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36208" y="1645920"/>
            <a:ext cx="5120640" cy="3931920"/>
          </a:xfrm>
          <a:prstGeom prst="roundRect">
            <a:avLst>
              <a:gd name="adj" fmla="val 6000"/>
            </a:avLst>
          </a:prstGeom>
          <a:solidFill>
            <a:srgbClr val="FD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2200" b="1">
                <a:solidFill>
                  <a:srgbClr val="D9442E"/>
                </a:solidFill>
              </a:rPr>
              <a:t>GitHub repository</a:t>
            </a:r>
            <a:endParaRPr sz="2200" b="1">
              <a:solidFill>
                <a:srgbClr val="D9442E"/>
              </a:solidFill>
            </a:endParaRPr>
          </a:p>
          <a:p>
            <a:pPr algn="ctr"/>
            <a:r>
              <a:rPr sz="1000" b="0">
                <a:solidFill>
                  <a:srgbClr val="1F2937"/>
                </a:solidFill>
              </a:rPr>
              <a:t> </a:t>
            </a:r>
            <a:endParaRPr sz="1000" b="0">
              <a:solidFill>
                <a:srgbClr val="1F2937"/>
              </a:solidFill>
            </a:endParaRPr>
          </a:p>
          <a:p>
            <a:pPr algn="ctr"/>
            <a:r>
              <a:rPr sz="1600" b="0">
                <a:solidFill>
                  <a:srgbClr val="1F2937"/>
                </a:solidFill>
              </a:rPr>
              <a:t>https://github.com/&lt;username&gt;/&lt;repository&gt;</a:t>
            </a:r>
            <a:endParaRPr sz="1600" b="0">
              <a:solidFill>
                <a:srgbClr val="1F2937"/>
              </a:solidFill>
            </a:endParaRPr>
          </a:p>
          <a:p>
            <a:pPr algn="ctr"/>
            <a:r>
              <a:rPr sz="1000" b="0">
                <a:solidFill>
                  <a:srgbClr val="1F2937"/>
                </a:solidFill>
              </a:rPr>
              <a:t> </a:t>
            </a:r>
            <a:endParaRPr sz="1000" b="0">
              <a:solidFill>
                <a:srgbClr val="1F2937"/>
              </a:solidFill>
            </a:endParaRPr>
          </a:p>
          <a:p>
            <a:pPr algn="ctr"/>
            <a:r>
              <a:rPr sz="1600" b="0">
                <a:solidFill>
                  <a:srgbClr val="6B7280"/>
                </a:solidFill>
              </a:rPr>
              <a:t>Source code, README and sample data</a:t>
            </a:r>
            <a:endParaRPr sz="1600" b="0">
              <a:solidFill>
                <a:srgbClr val="6B728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3981</Words>
  <Application>WPS Presentation</Application>
  <PresentationFormat>Widescreen</PresentationFormat>
  <Paragraphs>324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SimSun</vt:lpstr>
      <vt:lpstr>Wingdings</vt:lpstr>
      <vt:lpstr>Aptos</vt:lpstr>
      <vt:lpstr>Segoe UI</vt:lpstr>
      <vt:lpstr>Aptos Display</vt:lpstr>
      <vt:lpstr>Segoe UI Variable Display</vt:lpstr>
      <vt:lpstr>Microsoft YaHei</vt:lpstr>
      <vt:lpstr>Arial Unicode MS</vt:lpstr>
      <vt:lpstr>Arial Black</vt:lpstr>
      <vt:lpstr>Arial Rounded MT Bold</vt:lpstr>
      <vt:lpstr>Office Theme</vt:lpstr>
      <vt:lpstr>Student Record System in Java Team No</vt:lpstr>
      <vt:lpstr>Abstract</vt:lpstr>
      <vt:lpstr>Understanding the Problem</vt:lpstr>
      <vt:lpstr>CO1 · From problem to program</vt:lpstr>
      <vt:lpstr>CO2 · Control flow</vt:lpstr>
      <vt:lpstr>CO3 · Methods, recursion &amp; arrays</vt:lpstr>
      <vt:lpstr>CO4 · Objects that fail safely</vt:lpstr>
      <vt:lpstr>CO5 · Strings, algorithms &amp; files</vt:lpstr>
      <vt:lpstr>CO6 · Collections &amp; Streams</vt:lpstr>
      <vt:lpstr>Conclusion</vt:lpstr>
      <vt:lpstr>Screen Shots</vt:lpstr>
      <vt:lpstr>Geo Tag Photo and GitHub Link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sujee</cp:lastModifiedBy>
  <cp:revision>5</cp:revision>
  <dcterms:created xsi:type="dcterms:W3CDTF">2026-09-15T09:57:00Z</dcterms:created>
  <dcterms:modified xsi:type="dcterms:W3CDTF">2026-10-16T06:26:30Z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35366E2C40894792A139D6147E11EF96_12</vt:lpwstr>
  </property>
  <property fmtid="{D5CDD505-2E9C-101B-9397-08002B2CF9AE}" pid="3" name="KSOProductBuildVer">
    <vt:lpwstr>2057-12.2.0.23206</vt:lpwstr>
  </property>
</Properties>
</file>